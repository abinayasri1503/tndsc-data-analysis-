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1" r:id="rId1"/>
  </p:sldMasterIdLst>
  <p:notesMasterIdLst>
    <p:notesMasterId r:id="rId14"/>
  </p:notesMasterIdLst>
  <p:sldIdLst>
    <p:sldId id="256" r:id="rId2"/>
    <p:sldId id="270" r:id="rId3"/>
    <p:sldId id="271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8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UTHULAKSHMI%20S%20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[MUTHULAKSHMI S  PROJECT.xlsx]Sheet4!PivotTable1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Employee</a:t>
            </a:r>
            <a:r>
              <a:rPr lang="en-IN" baseline="0"/>
              <a:t> Performance Analysis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Sheet4!$B$3:$B$4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4">
                <a:shade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Sheet4!$A$5:$A$15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Sheet4!$B$5:$B$15</c:f>
              <c:numCache>
                <c:formatCode>General</c:formatCode>
                <c:ptCount val="10"/>
                <c:pt idx="0">
                  <c:v>16</c:v>
                </c:pt>
                <c:pt idx="1">
                  <c:v>18</c:v>
                </c:pt>
                <c:pt idx="2">
                  <c:v>21</c:v>
                </c:pt>
                <c:pt idx="3">
                  <c:v>17</c:v>
                </c:pt>
                <c:pt idx="4">
                  <c:v>21</c:v>
                </c:pt>
                <c:pt idx="5">
                  <c:v>29</c:v>
                </c:pt>
                <c:pt idx="6">
                  <c:v>26</c:v>
                </c:pt>
                <c:pt idx="7">
                  <c:v>26</c:v>
                </c:pt>
                <c:pt idx="8">
                  <c:v>21</c:v>
                </c:pt>
                <c:pt idx="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F-49F1-B56D-A696B5BDC868}"/>
            </c:ext>
          </c:extLst>
        </c:ser>
        <c:ser>
          <c:idx val="1"/>
          <c:order val="1"/>
          <c:tx>
            <c:strRef>
              <c:f>Sheet4!$C$3:$C$4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accent4">
                <a:shade val="86000"/>
              </a:schemeClr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4">
                    <a:shade val="86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Sheet4!$A$5:$A$15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Sheet4!$C$5:$C$15</c:f>
              <c:numCache>
                <c:formatCode>General</c:formatCode>
                <c:ptCount val="10"/>
                <c:pt idx="0">
                  <c:v>34</c:v>
                </c:pt>
                <c:pt idx="1">
                  <c:v>47</c:v>
                </c:pt>
                <c:pt idx="2">
                  <c:v>41</c:v>
                </c:pt>
                <c:pt idx="3">
                  <c:v>39</c:v>
                </c:pt>
                <c:pt idx="4">
                  <c:v>41</c:v>
                </c:pt>
                <c:pt idx="5">
                  <c:v>33</c:v>
                </c:pt>
                <c:pt idx="6">
                  <c:v>41</c:v>
                </c:pt>
                <c:pt idx="7">
                  <c:v>43</c:v>
                </c:pt>
                <c:pt idx="8">
                  <c:v>45</c:v>
                </c:pt>
                <c:pt idx="9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598F-49F1-B56D-A696B5BDC868}"/>
            </c:ext>
          </c:extLst>
        </c:ser>
        <c:ser>
          <c:idx val="2"/>
          <c:order val="2"/>
          <c:tx>
            <c:strRef>
              <c:f>Sheet4!$D$3:$D$4</c:f>
              <c:strCache>
                <c:ptCount val="1"/>
                <c:pt idx="0">
                  <c:v>MED</c:v>
                </c:pt>
              </c:strCache>
            </c:strRef>
          </c:tx>
          <c:spPr>
            <a:solidFill>
              <a:schemeClr val="accent4">
                <a:tint val="86000"/>
              </a:schemeClr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4">
                    <a:tint val="86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strRef>
              <c:f>Sheet4!$A$5:$A$15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Sheet4!$D$5:$D$15</c:f>
              <c:numCache>
                <c:formatCode>General</c:formatCode>
                <c:ptCount val="10"/>
                <c:pt idx="0">
                  <c:v>85</c:v>
                </c:pt>
                <c:pt idx="1">
                  <c:v>65</c:v>
                </c:pt>
                <c:pt idx="2">
                  <c:v>78</c:v>
                </c:pt>
                <c:pt idx="3">
                  <c:v>92</c:v>
                </c:pt>
                <c:pt idx="4">
                  <c:v>77</c:v>
                </c:pt>
                <c:pt idx="5">
                  <c:v>69</c:v>
                </c:pt>
                <c:pt idx="6">
                  <c:v>75</c:v>
                </c:pt>
                <c:pt idx="7">
                  <c:v>82</c:v>
                </c:pt>
                <c:pt idx="8">
                  <c:v>71</c:v>
                </c:pt>
                <c:pt idx="9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98F-49F1-B56D-A696B5BDC868}"/>
            </c:ext>
          </c:extLst>
        </c:ser>
        <c:ser>
          <c:idx val="3"/>
          <c:order val="3"/>
          <c:tx>
            <c:strRef>
              <c:f>Sheet4!$E$3:$E$4</c:f>
              <c:strCache>
                <c:ptCount val="1"/>
                <c:pt idx="0">
                  <c:v>VERY HIGH</c:v>
                </c:pt>
              </c:strCache>
            </c:strRef>
          </c:tx>
          <c:spPr>
            <a:solidFill>
              <a:schemeClr val="accent4">
                <a:tint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Sheet4!$A$5:$A$15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Sheet4!$E$5:$E$15</c:f>
              <c:numCache>
                <c:formatCode>General</c:formatCode>
                <c:ptCount val="10"/>
                <c:pt idx="0">
                  <c:v>15</c:v>
                </c:pt>
                <c:pt idx="1">
                  <c:v>15</c:v>
                </c:pt>
                <c:pt idx="2">
                  <c:v>14</c:v>
                </c:pt>
                <c:pt idx="3">
                  <c:v>9</c:v>
                </c:pt>
                <c:pt idx="4">
                  <c:v>15</c:v>
                </c:pt>
                <c:pt idx="5">
                  <c:v>12</c:v>
                </c:pt>
                <c:pt idx="6">
                  <c:v>15</c:v>
                </c:pt>
                <c:pt idx="7">
                  <c:v>16</c:v>
                </c:pt>
                <c:pt idx="8">
                  <c:v>13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598F-49F1-B56D-A696B5BDC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732520"/>
        <c:axId val="316733304"/>
      </c:barChart>
      <c:catAx>
        <c:axId val="316732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733304"/>
        <c:crosses val="autoZero"/>
        <c:auto val="1"/>
        <c:lblAlgn val="ctr"/>
        <c:lblOffset val="100"/>
        <c:noMultiLvlLbl val="0"/>
      </c:catAx>
      <c:valAx>
        <c:axId val="316733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732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573877262714511"/>
          <c:y val="0.3216768737241178"/>
          <c:w val="0.15987100049416542"/>
          <c:h val="0.499560731991834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4388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329798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418147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384207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99060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86434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333128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90460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63613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527422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866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326971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4071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672890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236762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30088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45006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1927399" y="533400"/>
            <a:ext cx="11201401" cy="22326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sz="3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Analysis using Excel </a:t>
            </a:r>
            <a:r>
              <a:rPr lang="en-US" b="1" dirty="0">
                <a:solidFill>
                  <a:srgbClr val="0F0F0F"/>
                </a:solidFill>
                <a:latin typeface="Roboto" panose="020F0502020204030204" pitchFamily="2" charset="0"/>
              </a:rPr>
              <a:t/>
            </a:r>
            <a:br>
              <a:rPr lang="en-US" b="1" dirty="0">
                <a:solidFill>
                  <a:srgbClr val="0F0F0F"/>
                </a:solidFill>
                <a:latin typeface="Roboto" panose="020F0502020204030204" pitchFamily="2" charset="0"/>
              </a:rPr>
            </a:br>
            <a:r>
              <a:rPr lang="en-US" spc="15" dirty="0"/>
              <a:t/>
            </a:r>
            <a:br>
              <a:rPr lang="en-US" spc="15" dirty="0"/>
            </a:br>
            <a:endParaRPr spc="1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914400" y="3053161"/>
            <a:ext cx="108442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STUDENT NAME	</a:t>
            </a:r>
            <a:r>
              <a:rPr lang="en-US" sz="2400" dirty="0" smtClean="0"/>
              <a:t>:</a:t>
            </a:r>
            <a:r>
              <a:rPr lang="en-US" sz="2400" dirty="0" smtClean="0"/>
              <a:t>ABINAYA SRI .R</a:t>
            </a:r>
            <a:endParaRPr lang="en-US" sz="2400" dirty="0"/>
          </a:p>
          <a:p>
            <a:r>
              <a:rPr lang="en-US" sz="2400" dirty="0"/>
              <a:t>REGISTER NO		</a:t>
            </a:r>
            <a:r>
              <a:rPr lang="en-US" sz="2400" dirty="0" smtClean="0"/>
              <a:t>:</a:t>
            </a:r>
            <a:r>
              <a:rPr lang="en-US" sz="2400" dirty="0" smtClean="0"/>
              <a:t>312217978</a:t>
            </a:r>
            <a:r>
              <a:rPr lang="en-US" sz="2400" dirty="0"/>
              <a:t>				</a:t>
            </a:r>
          </a:p>
          <a:p>
            <a:r>
              <a:rPr lang="en-US" sz="2400" dirty="0"/>
              <a:t>DEPARTMENT		:</a:t>
            </a:r>
            <a:r>
              <a:rPr lang="en-US" sz="2400" dirty="0" err="1"/>
              <a:t>B.Com</a:t>
            </a:r>
            <a:r>
              <a:rPr lang="en-US" sz="2400" dirty="0"/>
              <a:t> (General)</a:t>
            </a:r>
          </a:p>
          <a:p>
            <a:r>
              <a:rPr lang="en-US" sz="2400" dirty="0"/>
              <a:t>COLLEGE		:St. Anne’s Arts And Science College</a:t>
            </a:r>
          </a:p>
          <a:p>
            <a:r>
              <a:rPr lang="en-US" sz="2400" dirty="0"/>
              <a:t>NM ID(username</a:t>
            </a:r>
            <a:r>
              <a:rPr lang="en-US" sz="2400"/>
              <a:t>)     </a:t>
            </a:r>
            <a:r>
              <a:rPr lang="en-US" sz="2400" smtClean="0"/>
              <a:t>:660B3B43CFD09B5B9554B5BFCA91BC1E</a:t>
            </a:r>
            <a:r>
              <a:rPr lang="en-US" sz="2400" dirty="0"/>
              <a:t>			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TITLE</a:t>
            </a:r>
            <a:endParaRPr lang="en-IN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EMPLOYEE PERFORMANCE ANALYSIS USING EXCEL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2708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AGENDA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0" y="1524000"/>
            <a:ext cx="3742266" cy="38807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and Proposition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 Approach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9313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sz="425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ROB</a:t>
            </a:r>
            <a:r>
              <a:rPr sz="4250" b="1" spc="5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  <a:r>
              <a:rPr sz="425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4250" b="1" spc="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</a:t>
            </a:r>
            <a:r>
              <a:rPr lang="en-US" sz="42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425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sz="4250" b="1" spc="-37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4250" b="1" spc="-37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sz="425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4250" b="1" spc="-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425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</a:t>
            </a:r>
            <a:r>
              <a:rPr sz="425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NT</a:t>
            </a:r>
            <a:endParaRPr sz="425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Employee performance is defined as how well a person executes their job duties and responsibilities. The companies assess their employees performance on an annual or quarterly basis to define certain areas.</a:t>
            </a:r>
            <a:endParaRPr lang="en-IN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2821957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Dataset overview of an employee, contains the information about employees in a company.</a:t>
            </a:r>
            <a:endParaRPr lang="en-IN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8200" y="838200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b="1" spc="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</a:t>
            </a:r>
            <a:r>
              <a:rPr lang="en-US" sz="4250" b="1" spc="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425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OVERVIEW</a:t>
            </a:r>
            <a:endParaRPr sz="425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50B57B-77CA-84FA-9910-3F41C17BBB48}"/>
              </a:ext>
            </a:extLst>
          </p:cNvPr>
          <p:cNvSpPr txBox="1"/>
          <p:nvPr/>
        </p:nvSpPr>
        <p:spPr>
          <a:xfrm>
            <a:off x="990600" y="2133600"/>
            <a:ext cx="624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analyzing employee data using Excel which helps in gaining the knowledge regarding organizational data, performance statistical analysis by creating visualizations to understand the employee performances.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</a:t>
            </a:r>
            <a:r>
              <a:rPr sz="320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</a:t>
            </a:r>
            <a:r>
              <a:rPr sz="3200" b="1" spc="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200" b="1" spc="-2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200" b="1" spc="-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</a:t>
            </a:r>
            <a:r>
              <a:rPr sz="320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32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200" b="1" spc="-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3200" b="1" spc="-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</a:t>
            </a:r>
            <a:r>
              <a:rPr sz="320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32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200" b="1" spc="-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3200" b="1" spc="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  <a:r>
              <a:rPr sz="320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  <a:r>
              <a:rPr sz="3200" b="1" spc="-4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</a:t>
            </a:r>
            <a:r>
              <a:rPr sz="32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sz="3200" b="1" spc="-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3200" b="1" spc="-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  <a:r>
              <a:rPr sz="3200" b="1" spc="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S?</a:t>
            </a:r>
            <a:endParaRPr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The end users in employee performance analysis include:</a:t>
            </a:r>
          </a:p>
          <a:p>
            <a:pPr marL="0" indent="0">
              <a:buNone/>
            </a:pPr>
            <a:r>
              <a:rPr lang="en-US" dirty="0"/>
              <a:t>	1. Human Resource management professionals.</a:t>
            </a:r>
          </a:p>
          <a:p>
            <a:pPr marL="0" indent="0">
              <a:buNone/>
            </a:pPr>
            <a:r>
              <a:rPr lang="en-US" dirty="0"/>
              <a:t>	2. Data Analysts.</a:t>
            </a:r>
          </a:p>
          <a:p>
            <a:pPr marL="0" indent="0">
              <a:buNone/>
            </a:pPr>
            <a:r>
              <a:rPr lang="en-US" dirty="0"/>
              <a:t>	3. Team Leaders.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IN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7334" y="441207"/>
            <a:ext cx="3854528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  <a:r>
              <a:rPr sz="3600" b="1" spc="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6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LU</a:t>
            </a:r>
            <a:r>
              <a:rPr sz="36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3600"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  <a:r>
              <a:rPr sz="3600" b="1" spc="-34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6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sz="3600" b="1" spc="-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  <a:r>
              <a:rPr sz="3600" b="1" spc="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600"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sz="36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sz="3600" b="1" spc="6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600" b="1" spc="-29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sz="36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sz="36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LU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sz="3600" b="1" spc="-6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3600" b="1" spc="-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sz="3600"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spc="-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spc="2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sz="3600"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sz="3600" b="1" spc="-3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sz="3600"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sz="360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</a:t>
            </a:r>
            <a:r>
              <a:rPr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533400" y="2362200"/>
            <a:ext cx="3854528" cy="4267200"/>
          </a:xfrm>
        </p:spPr>
        <p:txBody>
          <a:bodyPr>
            <a:normAutofit/>
          </a:bodyPr>
          <a:lstStyle/>
          <a:p>
            <a:r>
              <a:rPr lang="en-US" sz="2400" dirty="0"/>
              <a:t>*Filtering- purpose to fill the missing values.</a:t>
            </a:r>
          </a:p>
          <a:p>
            <a:r>
              <a:rPr lang="en-US" sz="2400" dirty="0"/>
              <a:t>*Conditional formatting- blank values.</a:t>
            </a:r>
          </a:p>
          <a:p>
            <a:r>
              <a:rPr lang="en-US" sz="2400" dirty="0"/>
              <a:t>*Using- Pivot table and chart.</a:t>
            </a:r>
          </a:p>
        </p:txBody>
      </p:sp>
      <p:pic>
        <p:nvPicPr>
          <p:cNvPr id="16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60913" y="559815"/>
            <a:ext cx="4002087" cy="4393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/>
              <a:t>Employee data set- </a:t>
            </a:r>
            <a:r>
              <a:rPr lang="en-US" sz="1900" dirty="0" err="1"/>
              <a:t>Kaggle</a:t>
            </a:r>
            <a:endParaRPr lang="en-IN" sz="1900" dirty="0"/>
          </a:p>
          <a:p>
            <a:r>
              <a:rPr lang="en-IN" sz="1900" dirty="0"/>
              <a:t>There are </a:t>
            </a:r>
            <a:r>
              <a:rPr lang="en-US" sz="1900" dirty="0"/>
              <a:t>26 features</a:t>
            </a:r>
            <a:endParaRPr lang="en-IN" sz="1900" dirty="0"/>
          </a:p>
          <a:p>
            <a:r>
              <a:rPr lang="en-IN" sz="1900" dirty="0"/>
              <a:t>The important ten features are,</a:t>
            </a:r>
          </a:p>
          <a:p>
            <a:pPr lvl="1"/>
            <a:r>
              <a:rPr lang="en-IN" sz="1900" dirty="0"/>
              <a:t>Employment ID</a:t>
            </a:r>
          </a:p>
          <a:p>
            <a:pPr lvl="1"/>
            <a:r>
              <a:rPr lang="en-IN" sz="1900" dirty="0"/>
              <a:t>First name</a:t>
            </a:r>
          </a:p>
          <a:p>
            <a:pPr lvl="1"/>
            <a:r>
              <a:rPr lang="en-IN" sz="1900" dirty="0"/>
              <a:t>Last name</a:t>
            </a:r>
          </a:p>
          <a:p>
            <a:pPr lvl="1"/>
            <a:r>
              <a:rPr lang="en-IN" sz="1900" dirty="0"/>
              <a:t>Gender</a:t>
            </a:r>
          </a:p>
          <a:p>
            <a:pPr lvl="1"/>
            <a:r>
              <a:rPr lang="en-IN" sz="1900" dirty="0"/>
              <a:t>Employee status</a:t>
            </a:r>
          </a:p>
          <a:p>
            <a:pPr lvl="1"/>
            <a:r>
              <a:rPr lang="en-IN" sz="1900" dirty="0"/>
              <a:t>Employee type</a:t>
            </a:r>
          </a:p>
          <a:p>
            <a:pPr lvl="1"/>
            <a:r>
              <a:rPr lang="en-IN" sz="1900" dirty="0"/>
              <a:t>Employee classification</a:t>
            </a:r>
          </a:p>
          <a:p>
            <a:pPr lvl="1"/>
            <a:r>
              <a:rPr lang="en-IN" sz="1900" dirty="0"/>
              <a:t>Performance score</a:t>
            </a:r>
          </a:p>
          <a:p>
            <a:pPr lvl="1"/>
            <a:r>
              <a:rPr lang="en-IN" sz="1900" dirty="0"/>
              <a:t>Current employee ratings</a:t>
            </a:r>
          </a:p>
          <a:p>
            <a:pPr lvl="1"/>
            <a:r>
              <a:rPr lang="en-IN" sz="1900" dirty="0"/>
              <a:t>Business units</a:t>
            </a:r>
          </a:p>
          <a:p>
            <a:pPr marL="400050" lvl="1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</a:t>
            </a:r>
            <a:r>
              <a:rPr sz="4250" b="1" spc="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250" b="1" spc="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  <a:r>
              <a:rPr sz="425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WOW</a:t>
            </a:r>
            <a:r>
              <a:rPr lang="en-US" sz="425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  <a:r>
              <a:rPr sz="4250" b="1" spc="8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4250" b="1" spc="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sz="4250" b="1" spc="-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4250"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OUR</a:t>
            </a:r>
            <a:r>
              <a:rPr sz="4250" b="1" spc="-1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sz="4250" b="1" spc="2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SOLUTION</a:t>
            </a:r>
            <a:endParaRPr sz="425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533650" y="2160589"/>
            <a:ext cx="6740352" cy="388077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Level– These include the categories such as Levels in very high, high, medium, low, etc...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MODELLING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modelling in this employee performance analysis project includes the following:</a:t>
            </a:r>
            <a:endParaRPr lang="en-IN" dirty="0"/>
          </a:p>
          <a:p>
            <a:pPr marL="400050" lvl="1" indent="0">
              <a:buNone/>
            </a:pPr>
            <a:r>
              <a:rPr lang="en-US" sz="1800" dirty="0"/>
              <a:t>*Data collection</a:t>
            </a:r>
          </a:p>
          <a:p>
            <a:pPr marL="400050" lvl="1" indent="0">
              <a:buNone/>
            </a:pPr>
            <a:r>
              <a:rPr lang="en-US" sz="1800" dirty="0"/>
              <a:t>*Data cleaning</a:t>
            </a:r>
          </a:p>
          <a:p>
            <a:pPr marL="400050" lvl="1" indent="0">
              <a:buNone/>
            </a:pPr>
            <a:r>
              <a:rPr lang="en-US" sz="1800" dirty="0"/>
              <a:t>*Results</a:t>
            </a:r>
          </a:p>
          <a:p>
            <a:pPr marL="400050" lvl="1" indent="0">
              <a:buNone/>
            </a:pPr>
            <a:r>
              <a:rPr lang="en-US" sz="1800" dirty="0"/>
              <a:t>*Pivot table</a:t>
            </a:r>
          </a:p>
          <a:p>
            <a:pPr marL="400050" lvl="1" indent="0">
              <a:buNone/>
            </a:pPr>
            <a:r>
              <a:rPr lang="en-US" sz="1800" dirty="0"/>
              <a:t>*Chart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2000" y="533400"/>
            <a:ext cx="859666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  <a:r>
              <a:rPr b="1" spc="-4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</a:t>
            </a:r>
            <a:r>
              <a:rPr b="1" spc="1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b="1" spc="-3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</a:t>
            </a:r>
            <a:r>
              <a:rPr b="1" spc="-405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F660327-573F-4C4E-D4B8-ABDFB6AEC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554101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4" y="2160589"/>
            <a:ext cx="7171266" cy="4392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conclusion is the employee data analysis reveals the key insights in workforce performance and areas needed for improvement. The effective data analysis provides a foundation for the improvised planning and operational developments, which leads to a motivated and productive workforce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986442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348</TotalTime>
  <Words>311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Roboto</vt:lpstr>
      <vt:lpstr>Times New Roman</vt:lpstr>
      <vt:lpstr>Trebuchet MS</vt:lpstr>
      <vt:lpstr>Wingdings 3</vt:lpstr>
      <vt:lpstr>Facet</vt:lpstr>
      <vt:lpstr>Employee Data Analysis using Excel   </vt:lpstr>
      <vt:lpstr>PROJECT TITLE</vt:lpstr>
      <vt:lpstr>AGENDA</vt:lpstr>
      <vt:lpstr>PROBLEM STATEMENT</vt:lpstr>
      <vt:lpstr>PROJECT OVERVIEW</vt:lpstr>
      <vt:lpstr>WHO ARE THE END USERS?</vt:lpstr>
      <vt:lpstr>OUR SOLUTION AND ITS VALUE PROPOSITION</vt:lpstr>
      <vt:lpstr>Dataset Description</vt:lpstr>
      <vt:lpstr>THE "WOW" IN OUR SOLUTION</vt:lpstr>
      <vt:lpstr>MODELLING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SAASC LIBRARY</cp:lastModifiedBy>
  <cp:revision>52</cp:revision>
  <dcterms:created xsi:type="dcterms:W3CDTF">2024-03-29T15:07:22Z</dcterms:created>
  <dcterms:modified xsi:type="dcterms:W3CDTF">2024-08-30T05:19:11Z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